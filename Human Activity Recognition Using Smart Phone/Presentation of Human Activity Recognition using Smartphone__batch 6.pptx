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sldIdLst>
    <p:sldId id="256" r:id="rId3"/>
    <p:sldId id="257" r:id="rId4"/>
    <p:sldId id="261" r:id="rId5"/>
    <p:sldId id="258" r:id="rId6"/>
    <p:sldId id="259" r:id="rId7"/>
    <p:sldId id="260" r:id="rId8"/>
    <p:sldId id="267" r:id="rId9"/>
    <p:sldId id="262" r:id="rId10"/>
    <p:sldId id="263" r:id="rId11"/>
    <p:sldId id="264" r:id="rId12"/>
    <p:sldId id="266" r:id="rId13"/>
    <p:sldId id="268" r:id="rId14"/>
    <p:sldId id="269" r:id="rId15"/>
    <p:sldId id="26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F9F15EC6-D205-450D-914D-5A0943C2E420}" type="datetimeFigureOut">
              <a:rPr lang="en-US" smtClean="0"/>
              <a:t>11/5/2022</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8E7CE24-BC06-4AE5-B975-7B49EF104E3D}" type="slidenum">
              <a:rPr lang="en-US" smtClean="0"/>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F9F15EC6-D205-450D-914D-5A0943C2E420}"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38E7CE24-BC06-4AE5-B975-7B49EF104E3D}" type="slidenum">
              <a:rPr lang="en-US" smtClean="0"/>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F9F15EC6-D205-450D-914D-5A0943C2E420}" type="datetimeFigureOut">
              <a:rPr lang="en-US" smtClean="0"/>
              <a:t>11/5/2022</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8E7CE24-BC06-4AE5-B975-7B49EF104E3D}" type="slidenum">
              <a:rPr lang="en-US" smtClean="0"/>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F9F15EC6-D205-450D-914D-5A0943C2E420}" type="datetimeFigureOut">
              <a:rPr lang="en-US" smtClean="0"/>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E7CE24-BC06-4AE5-B975-7B49EF104E3D}" type="slidenum">
              <a:rPr lang="en-US" smtClean="0"/>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F9F15EC6-D205-450D-914D-5A0943C2E420}" type="datetimeFigureOut">
              <a:rPr lang="en-US" smtClean="0"/>
              <a:t>11/5/2022</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38E7CE24-BC06-4AE5-B975-7B49EF104E3D}" type="slidenum">
              <a:rPr lang="en-US" smtClean="0"/>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9F15EC6-D205-450D-914D-5A0943C2E420}" type="datetimeFigureOut">
              <a:rPr lang="en-US" smtClean="0"/>
              <a:t>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38E7CE24-BC06-4AE5-B975-7B49EF104E3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F9F15EC6-D205-450D-914D-5A0943C2E420}" type="datetimeFigureOut">
              <a:rPr lang="en-US" smtClean="0"/>
              <a:t>11/5/2022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38E7CE24-BC06-4AE5-B975-7B49EF104E3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38E7CE24-BC06-4AE5-B975-7B49EF104E3D}" type="slidenum">
              <a:rPr lang="en-US" smtClean="0"/>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F9F15EC6-D205-450D-914D-5A0943C2E420}" type="datetimeFigureOut">
              <a:rPr lang="en-US" smtClean="0"/>
              <a:t>11/5/2022</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38E7CE24-BC06-4AE5-B975-7B49EF104E3D}" type="slidenum">
              <a:rPr lang="en-US" smtClean="0"/>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F9F15EC6-D205-450D-914D-5A0943C2E420}" type="datetimeFigureOut">
              <a:rPr lang="en-US" smtClean="0"/>
              <a:t>11/5/2022</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9F15EC6-D205-450D-914D-5A0943C2E420}"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E7CE24-BC06-4AE5-B975-7B49EF104E3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38E7CE24-BC06-4AE5-B975-7B49EF104E3D}" type="slidenum">
              <a:rPr lang="en-US" smtClean="0"/>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9F15EC6-D205-450D-914D-5A0943C2E420}"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9F15EC6-D205-450D-914D-5A0943C2E420}"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E7CE24-BC06-4AE5-B975-7B49EF104E3D}"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F15EC6-D205-450D-914D-5A0943C2E420}"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E7CE24-BC06-4AE5-B975-7B49EF104E3D}"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F15EC6-D205-450D-914D-5A0943C2E420}"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E7CE24-BC06-4AE5-B975-7B49EF104E3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9F15EC6-D205-450D-914D-5A0943C2E420}" type="datetimeFigureOut">
              <a:rPr lang="en-US" smtClean="0"/>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E7CE24-BC06-4AE5-B975-7B49EF104E3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9F15EC6-D205-450D-914D-5A0943C2E420}" type="datetimeFigureOut">
              <a:rPr lang="en-US" smtClean="0"/>
              <a:t>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E7CE24-BC06-4AE5-B975-7B49EF104E3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9F15EC6-D205-450D-914D-5A0943C2E420}" type="datetimeFigureOut">
              <a:rPr lang="en-US" smtClean="0"/>
              <a:t>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E7CE24-BC06-4AE5-B975-7B49EF104E3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F15EC6-D205-450D-914D-5A0943C2E420}" type="datetimeFigureOut">
              <a:rPr lang="en-US" smtClean="0"/>
              <a:t>11/5/2022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E7CE24-BC06-4AE5-B975-7B49EF104E3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F15EC6-D205-450D-914D-5A0943C2E420}" type="datetimeFigureOut">
              <a:rPr lang="en-US" smtClean="0"/>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E7CE24-BC06-4AE5-B975-7B49EF104E3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F15EC6-D205-450D-914D-5A0943C2E420}" type="datetimeFigureOut">
              <a:rPr lang="en-US" smtClean="0"/>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E7CE24-BC06-4AE5-B975-7B49EF104E3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F15EC6-D205-450D-914D-5A0943C2E420}"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E7CE24-BC06-4AE5-B975-7B49EF104E3D}"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F15EC6-D205-450D-914D-5A0943C2E420}"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E7CE24-BC06-4AE5-B975-7B49EF104E3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F9F15EC6-D205-450D-914D-5A0943C2E420}" type="datetimeFigureOut">
              <a:rPr lang="en-US" smtClean="0"/>
              <a:t>11/5/2022</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8E7CE24-BC06-4AE5-B975-7B49EF104E3D}" type="slidenum">
              <a:rPr lang="en-US" smtClean="0"/>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F15EC6-D205-450D-914D-5A0943C2E420}" type="datetimeFigureOut">
              <a:rPr lang="en-US" smtClean="0"/>
              <a:t>11/5/2022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E7CE24-BC06-4AE5-B975-7B49EF104E3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1295400"/>
            <a:ext cx="7772400" cy="1470025"/>
          </a:xfrm>
        </p:spPr>
        <p:txBody>
          <a:bodyPr/>
          <a:lstStyle/>
          <a:p>
            <a:r>
              <a:rPr lang="en-US" dirty="0"/>
              <a:t>Human Activity Recognition using Smartphone</a:t>
            </a:r>
          </a:p>
        </p:txBody>
      </p:sp>
      <p:sp>
        <p:nvSpPr>
          <p:cNvPr id="3" name="Subtitle 2"/>
          <p:cNvSpPr>
            <a:spLocks noGrp="1"/>
          </p:cNvSpPr>
          <p:nvPr>
            <p:ph type="subTitle" idx="1"/>
          </p:nvPr>
        </p:nvSpPr>
        <p:spPr>
          <a:xfrm>
            <a:off x="2057400" y="2971800"/>
            <a:ext cx="6400800" cy="1752600"/>
          </a:xfrm>
        </p:spPr>
        <p:txBody>
          <a:bodyPr>
            <a:normAutofit fontScale="70000" lnSpcReduction="20000"/>
          </a:bodyPr>
          <a:lstStyle/>
          <a:p>
            <a:r>
              <a:rPr lang="en-IN" b="1" u="sng" dirty="0" err="1"/>
              <a:t>Submited</a:t>
            </a:r>
            <a:r>
              <a:rPr lang="en-IN" b="1" u="sng" dirty="0"/>
              <a:t> By:(BATCH 6)</a:t>
            </a:r>
            <a:endParaRPr lang="en-US" dirty="0"/>
          </a:p>
          <a:p>
            <a:r>
              <a:rPr lang="en-IN" dirty="0"/>
              <a:t>         </a:t>
            </a:r>
            <a:r>
              <a:rPr lang="en-IN" dirty="0" smtClean="0"/>
              <a:t> SAVARAM </a:t>
            </a:r>
            <a:r>
              <a:rPr lang="en-IN" dirty="0"/>
              <a:t>VENKATESWARA </a:t>
            </a:r>
            <a:r>
              <a:rPr lang="en-IN" dirty="0" smtClean="0"/>
              <a:t>RAO(20KN1A05F1)</a:t>
            </a:r>
            <a:endParaRPr lang="en-US" dirty="0" smtClean="0"/>
          </a:p>
          <a:p>
            <a:r>
              <a:rPr lang="en-IN" dirty="0" smtClean="0"/>
              <a:t>    SHAIK JAANI(20KN1A05F6)</a:t>
            </a:r>
            <a:endParaRPr lang="en-US" dirty="0" smtClean="0"/>
          </a:p>
          <a:p>
            <a:r>
              <a:rPr lang="en-IN" dirty="0" smtClean="0"/>
              <a:t>              </a:t>
            </a:r>
            <a:r>
              <a:rPr lang="en-IN" dirty="0"/>
              <a:t>USHA KIRANMAI MANDALA(20KN1A05H6)</a:t>
            </a:r>
            <a:endParaRPr lang="en-US" dirty="0"/>
          </a:p>
          <a:p>
            <a:endParaRPr lang="en-US" dirty="0"/>
          </a:p>
        </p:txBody>
      </p:sp>
      <p:pic>
        <p:nvPicPr>
          <p:cNvPr id="4" name="Picture 4" descr="http://www.visualphotos.com/photo/2x4155693/Woman_jogging_ZZ062045.jpg"/>
          <p:cNvPicPr>
            <a:picLocks noChangeAspect="1" noChangeArrowheads="1"/>
          </p:cNvPicPr>
          <p:nvPr/>
        </p:nvPicPr>
        <p:blipFill rotWithShape="1">
          <a:blip r:embed="rId2" cstate="print">
            <a:extLst>
              <a:ext uri="{28A0092B-C50C-407E-A947-70E740481C1C}">
                <a14:useLocalDpi xmlns="" xmlns:a14="http://schemas.microsoft.com/office/drawing/2010/main" val="0"/>
              </a:ext>
            </a:extLst>
          </a:blip>
          <a:srcRect b="2052"/>
          <a:stretch/>
        </p:blipFill>
        <p:spPr bwMode="auto">
          <a:xfrm>
            <a:off x="381000" y="2133600"/>
            <a:ext cx="2362200" cy="3514523"/>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sz="quarter" idx="1"/>
          </p:nvPr>
        </p:nvSpPr>
        <p:spPr/>
        <p:txBody>
          <a:bodyPr>
            <a:normAutofit/>
          </a:bodyPr>
          <a:lstStyle/>
          <a:p>
            <a:pPr>
              <a:spcBef>
                <a:spcPts val="600"/>
              </a:spcBef>
            </a:pPr>
            <a:r>
              <a:rPr lang="en-US" b="1" dirty="0" smtClean="0"/>
              <a:t>Introduction</a:t>
            </a:r>
          </a:p>
          <a:p>
            <a:pPr>
              <a:spcBef>
                <a:spcPts val="600"/>
              </a:spcBef>
            </a:pPr>
            <a:r>
              <a:rPr lang="en-US" b="1" dirty="0" smtClean="0"/>
              <a:t>Problem statement</a:t>
            </a:r>
            <a:endParaRPr lang="en-US" b="1" dirty="0" smtClean="0"/>
          </a:p>
          <a:p>
            <a:pPr>
              <a:spcBef>
                <a:spcPts val="600"/>
              </a:spcBef>
            </a:pPr>
            <a:r>
              <a:rPr lang="en-US" b="1" dirty="0" smtClean="0"/>
              <a:t>Goals</a:t>
            </a:r>
          </a:p>
          <a:p>
            <a:pPr>
              <a:spcBef>
                <a:spcPts val="600"/>
              </a:spcBef>
            </a:pPr>
            <a:r>
              <a:rPr lang="en-US" b="1" dirty="0" smtClean="0"/>
              <a:t>Methods</a:t>
            </a:r>
          </a:p>
          <a:p>
            <a:pPr>
              <a:spcBef>
                <a:spcPts val="600"/>
              </a:spcBef>
            </a:pPr>
            <a:r>
              <a:rPr lang="en-US" b="1" dirty="0" smtClean="0"/>
              <a:t>Software and hardware requirements</a:t>
            </a:r>
            <a:endParaRPr lang="en-US" b="1" dirty="0" smtClean="0"/>
          </a:p>
          <a:p>
            <a:pPr>
              <a:spcBef>
                <a:spcPts val="600"/>
              </a:spcBef>
            </a:pPr>
            <a:r>
              <a:rPr lang="en-US" b="1" dirty="0" smtClean="0"/>
              <a:t>Existing and proposed systems</a:t>
            </a:r>
            <a:endParaRPr lang="en-US" b="1" dirty="0" smtClean="0"/>
          </a:p>
          <a:p>
            <a:pPr>
              <a:spcBef>
                <a:spcPts val="600"/>
              </a:spcBef>
            </a:pPr>
            <a:r>
              <a:rPr lang="en-US" b="1" dirty="0" smtClean="0"/>
              <a:t>Conclusions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US" dirty="0"/>
          </a:p>
        </p:txBody>
      </p:sp>
      <p:sp>
        <p:nvSpPr>
          <p:cNvPr id="3" name="Content Placeholder 2"/>
          <p:cNvSpPr>
            <a:spLocks noGrp="1"/>
          </p:cNvSpPr>
          <p:nvPr>
            <p:ph sz="quarter" idx="1"/>
          </p:nvPr>
        </p:nvSpPr>
        <p:spPr/>
        <p:txBody>
          <a:bodyPr/>
          <a:lstStyle/>
          <a:p>
            <a:r>
              <a:rPr lang="en-US" dirty="0" smtClean="0"/>
              <a:t>Using sensors to identify human activities such as walking, jogging, limping.</a:t>
            </a:r>
          </a:p>
          <a:p>
            <a:r>
              <a:rPr lang="en-US" dirty="0"/>
              <a:t>Human Activity Recognition (HAR) is the problem of </a:t>
            </a:r>
            <a:r>
              <a:rPr lang="en-US" b="1" dirty="0"/>
              <a:t>identifying a physical activity carried out by an individual dependent on a trace of movement within a certain </a:t>
            </a:r>
            <a:r>
              <a:rPr lang="en-US" b="1" dirty="0" smtClean="0"/>
              <a:t>environment</a:t>
            </a:r>
            <a:r>
              <a:rPr lang="en-US" dirty="0" smtClean="0"/>
              <a: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r>
              <a:rPr lang="en-US" b="0" dirty="0" smtClean="0">
                <a:effectLst/>
              </a:rPr>
              <a:t>Activity Recognition</a:t>
            </a:r>
            <a:endParaRPr lang="en-US" b="1" dirty="0"/>
          </a:p>
        </p:txBody>
      </p:sp>
      <p:sp>
        <p:nvSpPr>
          <p:cNvPr id="3" name="Content Placeholder 2"/>
          <p:cNvSpPr>
            <a:spLocks noGrp="1"/>
          </p:cNvSpPr>
          <p:nvPr>
            <p:ph sz="quarter" idx="1"/>
          </p:nvPr>
        </p:nvSpPr>
        <p:spPr/>
        <p:txBody>
          <a:bodyPr/>
          <a:lstStyle/>
          <a:p>
            <a:r>
              <a:rPr lang="en-US" dirty="0" smtClean="0"/>
              <a:t>Human Activity Recognition (HAR) aims to identify the actions carried out by a person given a set of observations of him/herself and the surrounding environment. Recognition can be accomplished by exploiting the information retrieved from various sources such as environmental or body-worn sensors.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mypc\Downloads\WhatsApp Image 2022-11-05 at 8.19.26 AM.jpeg"/>
          <p:cNvPicPr>
            <a:picLocks noGrp="1" noChangeAspect="1" noChangeArrowheads="1"/>
          </p:cNvPicPr>
          <p:nvPr>
            <p:ph idx="1"/>
          </p:nvPr>
        </p:nvPicPr>
        <p:blipFill>
          <a:blip r:embed="rId2"/>
          <a:srcRect/>
          <a:stretch>
            <a:fillRect/>
          </a:stretch>
        </p:blipFill>
        <p:spPr bwMode="auto">
          <a:xfrm>
            <a:off x="1219200" y="304800"/>
            <a:ext cx="7010400" cy="6255173"/>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fontScale="92500" lnSpcReduction="10000"/>
          </a:bodyPr>
          <a:lstStyle/>
          <a:p>
            <a:r>
              <a:rPr lang="en-US" b="1" dirty="0" smtClean="0"/>
              <a:t>Motivation</a:t>
            </a:r>
          </a:p>
          <a:p>
            <a:pPr lvl="1"/>
            <a:r>
              <a:rPr lang="en-US" dirty="0" smtClean="0"/>
              <a:t>Human survey (study human daily activities)</a:t>
            </a:r>
          </a:p>
          <a:p>
            <a:pPr lvl="1"/>
            <a:r>
              <a:rPr lang="en-US" dirty="0" smtClean="0"/>
              <a:t>Medical care (diabetes, elderly, rehabilitation)</a:t>
            </a:r>
          </a:p>
          <a:p>
            <a:pPr lvl="1"/>
            <a:endParaRPr lang="en-US" dirty="0" smtClean="0"/>
          </a:p>
          <a:p>
            <a:r>
              <a:rPr lang="en-US" b="1" dirty="0" smtClean="0"/>
              <a:t>Sensors types</a:t>
            </a:r>
          </a:p>
          <a:p>
            <a:pPr lvl="1"/>
            <a:r>
              <a:rPr lang="en-US" dirty="0" smtClean="0"/>
              <a:t>Inertial sensors (accelerometer, gyroscope)</a:t>
            </a:r>
          </a:p>
          <a:p>
            <a:pPr lvl="1"/>
            <a:r>
              <a:rPr lang="en-US" dirty="0" smtClean="0"/>
              <a:t>Camera</a:t>
            </a:r>
          </a:p>
          <a:p>
            <a:pPr lvl="1"/>
            <a:r>
              <a:rPr lang="en-US" dirty="0" smtClean="0"/>
              <a:t>GPS</a:t>
            </a:r>
          </a:p>
          <a:p>
            <a:pPr lvl="1"/>
            <a:endParaRPr lang="en-US" dirty="0" smtClean="0"/>
          </a:p>
          <a:p>
            <a:r>
              <a:rPr lang="en-US" dirty="0" smtClean="0"/>
              <a:t>Smartphone is small and convenient to carry around and its computational resource is powerful enough for our purpose.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mypc\Downloads\images (15).jpeg"/>
          <p:cNvPicPr>
            <a:picLocks noGrp="1" noChangeAspect="1" noChangeArrowheads="1"/>
          </p:cNvPicPr>
          <p:nvPr>
            <p:ph idx="1"/>
          </p:nvPr>
        </p:nvPicPr>
        <p:blipFill>
          <a:blip r:embed="rId2"/>
          <a:srcRect/>
          <a:stretch>
            <a:fillRect/>
          </a:stretch>
        </p:blipFill>
        <p:spPr bwMode="auto">
          <a:xfrm>
            <a:off x="381000" y="1143000"/>
            <a:ext cx="8474782" cy="41148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Goals</a:t>
            </a:r>
            <a:endParaRPr lang="en-US" dirty="0"/>
          </a:p>
        </p:txBody>
      </p:sp>
      <p:sp>
        <p:nvSpPr>
          <p:cNvPr id="3" name="Content Placeholder 2"/>
          <p:cNvSpPr>
            <a:spLocks noGrp="1"/>
          </p:cNvSpPr>
          <p:nvPr>
            <p:ph sz="quarter" idx="1"/>
          </p:nvPr>
        </p:nvSpPr>
        <p:spPr/>
        <p:txBody>
          <a:bodyPr/>
          <a:lstStyle/>
          <a:p>
            <a:r>
              <a:rPr lang="en-US" dirty="0" smtClean="0"/>
              <a:t>Design a simple, light weight, and accurate system that can learn human activity with minimum user interaction.</a:t>
            </a:r>
          </a:p>
          <a:p>
            <a:pPr lvl="1"/>
            <a:endParaRPr lang="en-US" dirty="0" smtClean="0"/>
          </a:p>
          <a:p>
            <a:pPr lvl="1"/>
            <a:r>
              <a:rPr lang="en-US" dirty="0" smtClean="0"/>
              <a:t>Compare and find a model that best fit our system in terms of accuracy and efficiency. </a:t>
            </a:r>
          </a:p>
          <a:p>
            <a:pPr lvl="1"/>
            <a:endParaRPr lang="en-US" dirty="0" smtClean="0"/>
          </a:p>
          <a:p>
            <a:pPr lvl="1"/>
            <a:r>
              <a:rPr lang="en-US" dirty="0" smtClean="0"/>
              <a:t>Reduce the labeling time and labor works using active learning.</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Methods		</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Classification Techniques</a:t>
            </a:r>
          </a:p>
          <a:p>
            <a:pPr lvl="1"/>
            <a:r>
              <a:rPr lang="en-US" dirty="0" smtClean="0"/>
              <a:t>Quadratic </a:t>
            </a:r>
          </a:p>
          <a:p>
            <a:pPr lvl="1"/>
            <a:r>
              <a:rPr lang="en-US" dirty="0" smtClean="0"/>
              <a:t>K-Nearest Neighbors</a:t>
            </a:r>
          </a:p>
          <a:p>
            <a:pPr lvl="1"/>
            <a:r>
              <a:rPr lang="en-US" dirty="0" smtClean="0"/>
              <a:t>Support Vector Machines</a:t>
            </a:r>
          </a:p>
          <a:p>
            <a:pPr lvl="1"/>
            <a:r>
              <a:rPr lang="en-US" dirty="0" smtClean="0"/>
              <a:t>Artificial Neural Networks</a:t>
            </a:r>
          </a:p>
          <a:p>
            <a:pPr lvl="1"/>
            <a:endParaRPr lang="en-US" dirty="0" smtClean="0"/>
          </a:p>
          <a:p>
            <a:r>
              <a:rPr lang="en-US" dirty="0" smtClean="0"/>
              <a:t>Query Strategies based on Uncertainty</a:t>
            </a:r>
          </a:p>
          <a:p>
            <a:pPr lvl="1"/>
            <a:r>
              <a:rPr lang="en-US" dirty="0" smtClean="0"/>
              <a:t>Quadratic:	Distance from </a:t>
            </a:r>
            <a:r>
              <a:rPr lang="en-US" dirty="0" err="1" smtClean="0"/>
              <a:t>discriminant</a:t>
            </a:r>
            <a:r>
              <a:rPr lang="en-US" dirty="0" smtClean="0"/>
              <a:t> curve</a:t>
            </a:r>
          </a:p>
          <a:p>
            <a:pPr lvl="1"/>
            <a:r>
              <a:rPr lang="en-US" dirty="0" smtClean="0"/>
              <a:t>KNN:		Entropy</a:t>
            </a:r>
          </a:p>
          <a:p>
            <a:pPr lvl="1"/>
            <a:r>
              <a:rPr lang="en-US" dirty="0" smtClean="0"/>
              <a:t>SVM:		Distance from the boundary</a:t>
            </a:r>
          </a:p>
          <a:p>
            <a:pPr lvl="1"/>
            <a:r>
              <a:rPr lang="en-US" dirty="0" smtClean="0"/>
              <a:t>ANN		</a:t>
            </a:r>
            <a:r>
              <a:rPr lang="en-US" dirty="0" err="1" smtClean="0"/>
              <a:t>Discriminant</a:t>
            </a:r>
            <a:r>
              <a:rPr lang="en-US" dirty="0" smtClean="0"/>
              <a:t> function values</a:t>
            </a:r>
          </a:p>
          <a:p>
            <a:endParaRPr lang="en-US" dirty="0"/>
          </a:p>
        </p:txBody>
      </p:sp>
      <p:pic>
        <p:nvPicPr>
          <p:cNvPr id="4" name="Picture 2" descr="http://www.advocacymatters.co.uk/Libraries/Local/736/Images/Blue%20question%20mark%20for%20web.jpg"/>
          <p:cNvPicPr>
            <a:picLocks noChangeAspect="1" noChangeArrowheads="1"/>
          </p:cNvPicPr>
          <p:nvPr/>
        </p:nvPicPr>
        <p:blipFill>
          <a:blip r:embed="rId2" cstate="print"/>
          <a:srcRect l="7143" t="4762" r="7143" b="2381"/>
          <a:stretch>
            <a:fillRect/>
          </a:stretch>
        </p:blipFill>
        <p:spPr bwMode="auto">
          <a:xfrm>
            <a:off x="6477000" y="2057400"/>
            <a:ext cx="1447800" cy="156845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758952"/>
          </a:xfrm>
        </p:spPr>
        <p:txBody>
          <a:bodyPr>
            <a:normAutofit fontScale="90000"/>
          </a:bodyPr>
          <a:lstStyle/>
          <a:p>
            <a:r>
              <a:rPr lang="en-US" b="1" dirty="0" smtClean="0"/>
              <a:t/>
            </a:r>
            <a:br>
              <a:rPr lang="en-US" b="1" dirty="0" smtClean="0"/>
            </a:br>
            <a:r>
              <a:rPr lang="en-US" b="1" dirty="0" smtClean="0"/>
              <a:t>Software requirements</a:t>
            </a:r>
            <a:br>
              <a:rPr lang="en-US" b="1" dirty="0" smtClean="0"/>
            </a:br>
            <a:endParaRPr lang="en-US" dirty="0"/>
          </a:p>
        </p:txBody>
      </p:sp>
      <p:sp>
        <p:nvSpPr>
          <p:cNvPr id="3" name="Content Placeholder 2"/>
          <p:cNvSpPr>
            <a:spLocks noGrp="1"/>
          </p:cNvSpPr>
          <p:nvPr>
            <p:ph sz="quarter" idx="1"/>
          </p:nvPr>
        </p:nvSpPr>
        <p:spPr/>
        <p:txBody>
          <a:bodyPr>
            <a:normAutofit lnSpcReduction="10000"/>
          </a:bodyPr>
          <a:lstStyle/>
          <a:p>
            <a:r>
              <a:rPr lang="en-US" dirty="0" smtClean="0"/>
              <a:t>Sensor-based activity recognition seeks the profound high-level knowledge about human activities from multitudes of low-level sensor readings. Conventional pattern recognition approaches have made tremendous progress in the past years. However, those methods often heavily rely on heuristic hand-crafted feature extraction, which could hinder their generalization performance.  Recently, the recent advancement of deep learning makes it possible to perform automatic high-level feature extraction thus achieves promising performance in many areas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hardware requirements</a:t>
            </a:r>
            <a:endParaRPr lang="en-US" dirty="0"/>
          </a:p>
        </p:txBody>
      </p:sp>
      <p:sp>
        <p:nvSpPr>
          <p:cNvPr id="3" name="Content Placeholder 2"/>
          <p:cNvSpPr>
            <a:spLocks noGrp="1"/>
          </p:cNvSpPr>
          <p:nvPr>
            <p:ph sz="quarter" idx="1"/>
          </p:nvPr>
        </p:nvSpPr>
        <p:spPr/>
        <p:txBody>
          <a:bodyPr/>
          <a:lstStyle/>
          <a:p>
            <a:r>
              <a:rPr lang="en-US" dirty="0" smtClean="0"/>
              <a:t>Here we use hard ware such as mobiles , </a:t>
            </a:r>
            <a:r>
              <a:rPr lang="en-US" dirty="0" err="1" smtClean="0"/>
              <a:t>CCTVs,computers,few</a:t>
            </a:r>
            <a:r>
              <a:rPr lang="en-US" dirty="0" smtClean="0"/>
              <a:t> chips etc</a:t>
            </a:r>
          </a:p>
          <a:p>
            <a:r>
              <a:rPr lang="en-US" dirty="0" smtClean="0"/>
              <a:t>The most widely used hardware devises are watches and mobiles.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sz="quarter" idx="1"/>
          </p:nvPr>
        </p:nvSpPr>
        <p:spPr/>
        <p:txBody>
          <a:bodyPr>
            <a:normAutofit/>
          </a:bodyPr>
          <a:lstStyle/>
          <a:p>
            <a:r>
              <a:rPr lang="en-US" dirty="0" smtClean="0"/>
              <a:t>The existing system was manual where a person had to sit in front of a monitor to monitor and guide human activities, it was hectic, time consuming and costlier system and was prone to human errors and negligence. Further some systems started using sensor data to recognize human activities but they were needed to be worn by the user which limited the scope of activity recognition in open environment in general.</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Unlike the existing system, the proposed system takes input in the form of video and image to recognize the activity being performed in it. It is much faster and a cost effective solution. It uses deep learning to recognize the activities. This system can be used, incorporated or expanded further to cover a wide range of applications. Hence, it acts as a base system for various applications and tasks. Moreover, it can reduce the need of additional staff for entering data. Thereby, reducing the cost of the companies considerably.</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sz="quarter" idx="1"/>
          </p:nvPr>
        </p:nvSpPr>
        <p:spPr/>
        <p:txBody>
          <a:bodyPr/>
          <a:lstStyle/>
          <a:p>
            <a:r>
              <a:rPr lang="en-US" dirty="0"/>
              <a:t>In this project, we  designed  a  </a:t>
            </a:r>
            <a:r>
              <a:rPr lang="en-US" dirty="0" err="1"/>
              <a:t>smartphone</a:t>
            </a:r>
            <a:r>
              <a:rPr lang="en-US" dirty="0"/>
              <a:t>-based  recognition  system  that recognizes five human </a:t>
            </a:r>
            <a:r>
              <a:rPr lang="en-US" dirty="0" err="1"/>
              <a:t>activities:walking</a:t>
            </a:r>
            <a:r>
              <a:rPr lang="en-US" dirty="0"/>
              <a:t>, limping, jogging, going upstairs and going downstairs. The  system collected time series signals using a built-in accelerometer, generated 31  features in  both time  and frequency domain,  and then reduced  the  feature  dimensionality  to  improve  the performance.</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TotalTime>
  <Words>574</Words>
  <Application>Microsoft Office PowerPoint</Application>
  <PresentationFormat>On-screen Show (4:3)</PresentationFormat>
  <Paragraphs>57</Paragraphs>
  <Slides>14</Slides>
  <Notes>0</Notes>
  <HiddenSlides>0</HiddenSlides>
  <MMClips>0</MMClips>
  <ScaleCrop>false</ScaleCrop>
  <HeadingPairs>
    <vt:vector size="4" baseType="variant">
      <vt:variant>
        <vt:lpstr>Theme</vt:lpstr>
      </vt:variant>
      <vt:variant>
        <vt:i4>2</vt:i4>
      </vt:variant>
      <vt:variant>
        <vt:lpstr>Slide Titles</vt:lpstr>
      </vt:variant>
      <vt:variant>
        <vt:i4>14</vt:i4>
      </vt:variant>
    </vt:vector>
  </HeadingPairs>
  <TitlesOfParts>
    <vt:vector size="16" baseType="lpstr">
      <vt:lpstr>Civic</vt:lpstr>
      <vt:lpstr>Office Theme</vt:lpstr>
      <vt:lpstr>Human Activity Recognition using Smartphone</vt:lpstr>
      <vt:lpstr>Outline</vt:lpstr>
      <vt:lpstr>PROBLEM STATEMENT</vt:lpstr>
      <vt:lpstr>Introduction: Activity Recognition</vt:lpstr>
      <vt:lpstr>Slide 5</vt:lpstr>
      <vt:lpstr>Slide 6</vt:lpstr>
      <vt:lpstr>Slide 7</vt:lpstr>
      <vt:lpstr>Goals</vt:lpstr>
      <vt:lpstr>           Methods  </vt:lpstr>
      <vt:lpstr> Software requirements </vt:lpstr>
      <vt:lpstr> hardware requirements</vt:lpstr>
      <vt:lpstr>Existing system</vt:lpstr>
      <vt:lpstr>Proposed System</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Activity Recognition using Smartphone</dc:title>
  <dc:creator>mypc</dc:creator>
  <cp:lastModifiedBy>mypc</cp:lastModifiedBy>
  <cp:revision>4</cp:revision>
  <dcterms:created xsi:type="dcterms:W3CDTF">2022-11-05T17:05:20Z</dcterms:created>
  <dcterms:modified xsi:type="dcterms:W3CDTF">2022-11-05T17:43:44Z</dcterms:modified>
</cp:coreProperties>
</file>